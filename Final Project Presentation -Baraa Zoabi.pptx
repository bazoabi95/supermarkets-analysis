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lbert Sans"/>
      <p:regular r:id="rId19"/>
      <p:bold r:id="rId20"/>
      <p:italic r:id="rId21"/>
      <p:boldItalic r:id="rId22"/>
    </p:embeddedFont>
    <p:embeddedFont>
      <p:font typeface="Nanum Myeongj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AlbertSans-bold.fntdata"/><Relationship Id="rId22" Type="http://schemas.openxmlformats.org/officeDocument/2006/relationships/font" Target="fonts/AlbertSans-boldItalic.fntdata"/><Relationship Id="rId21" Type="http://schemas.openxmlformats.org/officeDocument/2006/relationships/font" Target="fonts/AlbertSans-italic.fntdata"/><Relationship Id="rId24" Type="http://schemas.openxmlformats.org/officeDocument/2006/relationships/font" Target="fonts/NanumMyeongjo-bold.fntdata"/><Relationship Id="rId23" Type="http://schemas.openxmlformats.org/officeDocument/2006/relationships/font" Target="fonts/NanumMyeongj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lbert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4d83d45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4d83d45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4d83d45c4c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4d83d45c4c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d83d45c4c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4d83d45c4c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4d83d45c4c_0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4d83d45c4c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4d83d45c4c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4d83d45c4c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4d83d45c4c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4d83d45c4c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4d83d45c4c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4d83d45c4c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4d83d45c4c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4d83d45c4c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4d83d45c4c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4d83d45c4c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4d83d45c4c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4d83d45c4c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4d83d45c4c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4d83d45c4c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4d83d45c4c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4d83d45c4c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8" name="Google Shape;58;p14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9" name="Google Shape;59;p14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60" name="Google Shape;60;p14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List of 4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15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Purple">
  <p:cSld name="CUSTOM"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Green">
  <p:cSld name="CUSTOM_5">
    <p:bg>
      <p:bgPr>
        <a:solidFill>
          <a:schemeClr val="accen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17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Teal">
  <p:cSld name="CUSTOM_5_1">
    <p:bg>
      <p:bgPr>
        <a:solidFill>
          <a:schemeClr val="accen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8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Blue">
  <p:cSld name="CUSTOM_5_1_1">
    <p:bg>
      <p:bgPr>
        <a:solidFill>
          <a:schemeClr val="accent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9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2" name="Google Shape;92;p20"/>
          <p:cNvSpPr/>
          <p:nvPr>
            <p:ph idx="4" type="pic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fmla="val 3848" name="adj1"/>
              <a:gd fmla="val 0" name="adj2"/>
            </a:avLst>
          </a:prstGeom>
          <a:noFill/>
          <a:ln>
            <a:noFill/>
          </a:ln>
        </p:spPr>
      </p:sp>
      <p:sp>
        <p:nvSpPr>
          <p:cNvPr id="93" name="Google Shape;93;p20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"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>
            <p:ph idx="2" type="pic"/>
          </p:nvPr>
        </p:nvSpPr>
        <p:spPr>
          <a:xfrm>
            <a:off x="120000" y="114300"/>
            <a:ext cx="8904000" cy="49149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+ Content">
  <p:cSld name="CUSTOM_3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2" type="body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1" name="Google Shape;101;p22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/>
          <p:nvPr>
            <p:ph idx="5" type="pic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3" name="Google Shape;103;p22"/>
          <p:cNvSpPr/>
          <p:nvPr>
            <p:ph idx="6" type="pic"/>
          </p:nvPr>
        </p:nvSpPr>
        <p:spPr>
          <a:xfrm>
            <a:off x="2486554" y="22352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4" name="Google Shape;104;p22"/>
          <p:cNvSpPr/>
          <p:nvPr>
            <p:ph idx="7" type="pic"/>
          </p:nvPr>
        </p:nvSpPr>
        <p:spPr>
          <a:xfrm flipH="1" rot="10800000">
            <a:off x="2486554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5" name="Google Shape;105;p22"/>
          <p:cNvSpPr/>
          <p:nvPr>
            <p:ph idx="8" type="pic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_1"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>
            <p:ph idx="2" type="pic"/>
          </p:nvPr>
        </p:nvSpPr>
        <p:spPr>
          <a:xfrm>
            <a:off x="114275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08" name="Google Shape;108;p23"/>
          <p:cNvSpPr/>
          <p:nvPr>
            <p:ph idx="3" type="pic"/>
          </p:nvPr>
        </p:nvSpPr>
        <p:spPr>
          <a:xfrm>
            <a:off x="3117080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09" name="Google Shape;109;p23"/>
          <p:cNvSpPr/>
          <p:nvPr>
            <p:ph idx="4" type="pic"/>
          </p:nvPr>
        </p:nvSpPr>
        <p:spPr>
          <a:xfrm>
            <a:off x="114275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0" name="Google Shape;110;p23"/>
          <p:cNvSpPr/>
          <p:nvPr>
            <p:ph idx="5" type="pic"/>
          </p:nvPr>
        </p:nvSpPr>
        <p:spPr>
          <a:xfrm>
            <a:off x="3117080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1" name="Google Shape;111;p23"/>
          <p:cNvSpPr/>
          <p:nvPr>
            <p:ph idx="6" type="pic"/>
          </p:nvPr>
        </p:nvSpPr>
        <p:spPr>
          <a:xfrm>
            <a:off x="6109898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2" name="Google Shape;112;p23"/>
          <p:cNvSpPr/>
          <p:nvPr>
            <p:ph idx="7" type="pic"/>
          </p:nvPr>
        </p:nvSpPr>
        <p:spPr>
          <a:xfrm>
            <a:off x="6109898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CUSTOM_4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2" type="body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" name="Google Shape;117;p24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24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CUSTOM_4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1" name="Google Shape;121;p25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2" type="body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2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25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Problem">
  <p:cSld name="CUSTOM_6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26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3"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4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&amp; Benefits">
  <p:cSld name="CUSTOM_7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idx="1" type="subTitle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2" type="subTitle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3" type="subTitle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4" type="subTitle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5" type="subTitle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/>
        </p:txBody>
      </p:sp>
      <p:sp>
        <p:nvSpPr>
          <p:cNvPr id="137" name="Google Shape;137;p27"/>
          <p:cNvSpPr txBox="1"/>
          <p:nvPr>
            <p:ph idx="6" type="subTitle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7" type="subTitle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8" type="subTitle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9" type="subTitle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idx="13" type="subTitle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4" type="subTitle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3" name="Google Shape;143;p27"/>
          <p:cNvSpPr/>
          <p:nvPr>
            <p:ph idx="1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2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2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Graph">
  <p:cSld name="CUSTOM_8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3" name="Google Shape;153;p2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4" name="Google Shape;154;p2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Solution">
  <p:cSld name="CUSTOM_9">
    <p:bg>
      <p:bgPr>
        <a:solidFill>
          <a:schemeClr val="accen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2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y It Works">
  <p:cSld name="CUSTOM_9_1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"/>
          <p:cNvSpPr/>
          <p:nvPr>
            <p:ph idx="2" type="pic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fmla="val 286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Audience Venn Diagram">
  <p:cSld name="CUSTOM_10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2" type="title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71" name="Google Shape;171;p3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3 Concepts">
  <p:cSld name="CUSTOM_11">
    <p:bg>
      <p:bgPr>
        <a:solidFill>
          <a:schemeClr val="accen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"/>
          <p:cNvSpPr txBox="1"/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33"/>
          <p:cNvSpPr txBox="1"/>
          <p:nvPr>
            <p:ph idx="2" type="body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33"/>
          <p:cNvSpPr txBox="1"/>
          <p:nvPr>
            <p:ph idx="3" type="subTitle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8" name="Google Shape;178;p33"/>
          <p:cNvSpPr txBox="1"/>
          <p:nvPr>
            <p:ph idx="4" type="subTitle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33"/>
          <p:cNvSpPr txBox="1"/>
          <p:nvPr>
            <p:ph idx="5" type="subTitle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0" name="Google Shape;180;p33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33"/>
          <p:cNvSpPr/>
          <p:nvPr>
            <p:ph idx="7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6 Concepts">
  <p:cSld name="CUSTOM_11_1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4"/>
          <p:cNvSpPr txBox="1"/>
          <p:nvPr>
            <p:ph idx="1" type="subTitle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2" type="subTitle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34"/>
          <p:cNvSpPr txBox="1"/>
          <p:nvPr>
            <p:ph idx="3" type="subTitle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34"/>
          <p:cNvSpPr txBox="1"/>
          <p:nvPr>
            <p:ph idx="4" type="body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8" name="Google Shape;188;p34"/>
          <p:cNvSpPr txBox="1"/>
          <p:nvPr>
            <p:ph idx="5" type="body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4"/>
          <p:cNvSpPr txBox="1"/>
          <p:nvPr>
            <p:ph idx="6" type="body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34"/>
          <p:cNvSpPr txBox="1"/>
          <p:nvPr>
            <p:ph idx="7" type="subTitle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34"/>
          <p:cNvSpPr txBox="1"/>
          <p:nvPr>
            <p:ph idx="8" type="body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2" name="Google Shape;192;p34"/>
          <p:cNvSpPr txBox="1"/>
          <p:nvPr>
            <p:ph idx="9" type="subTitle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34"/>
          <p:cNvSpPr txBox="1"/>
          <p:nvPr>
            <p:ph idx="13" type="body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14" type="subTitle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34"/>
          <p:cNvSpPr txBox="1"/>
          <p:nvPr>
            <p:ph idx="15" type="body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7" name="Google Shape;197;p34"/>
          <p:cNvSpPr/>
          <p:nvPr>
            <p:ph idx="1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Graph">
  <p:cSld name="CUSTOM_1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idx="1" type="subTitle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2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Graph">
  <p:cSld name="CUSTOM_13">
    <p:bg>
      <p:bgPr>
        <a:solidFill>
          <a:schemeClr val="accen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6"/>
          <p:cNvSpPr txBox="1"/>
          <p:nvPr>
            <p:ph idx="1" type="subTitle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36"/>
          <p:cNvSpPr txBox="1"/>
          <p:nvPr>
            <p:ph idx="2" type="subTitle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8" name="Google Shape;208;p36"/>
          <p:cNvSpPr txBox="1"/>
          <p:nvPr>
            <p:ph idx="3" type="title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/>
          <p:nvPr>
            <p:ph idx="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Landscape">
  <p:cSld name="CUSTOM_14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" name="Google Shape;213;p37"/>
          <p:cNvSpPr txBox="1"/>
          <p:nvPr>
            <p:ph idx="2" type="body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3" type="body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" name="Google Shape;215;p37"/>
          <p:cNvSpPr txBox="1"/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4" type="body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" name="Google Shape;217;p37"/>
          <p:cNvSpPr txBox="1"/>
          <p:nvPr>
            <p:ph idx="5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37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9" name="Google Shape;219;p37"/>
          <p:cNvSpPr/>
          <p:nvPr>
            <p:ph idx="7" type="pic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0" name="Google Shape;220;p37"/>
          <p:cNvSpPr/>
          <p:nvPr>
            <p:ph idx="8" type="pic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1" name="Google Shape;221;p37"/>
          <p:cNvSpPr/>
          <p:nvPr>
            <p:ph idx="9" type="pic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37"/>
          <p:cNvSpPr/>
          <p:nvPr>
            <p:ph idx="13" type="pic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37"/>
          <p:cNvSpPr/>
          <p:nvPr>
            <p:ph idx="14" type="pic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4" name="Google Shape;224;p37"/>
          <p:cNvSpPr/>
          <p:nvPr>
            <p:ph idx="15" type="pic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5" name="Google Shape;225;p37"/>
          <p:cNvSpPr txBox="1"/>
          <p:nvPr>
            <p:ph idx="16" type="title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7"/>
          <p:cNvSpPr txBox="1"/>
          <p:nvPr>
            <p:ph idx="17" type="title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7"/>
          <p:cNvSpPr txBox="1"/>
          <p:nvPr>
            <p:ph idx="18" type="title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7"/>
          <p:cNvSpPr txBox="1"/>
          <p:nvPr>
            <p:ph idx="19" type="title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7"/>
          <p:cNvSpPr txBox="1"/>
          <p:nvPr>
            <p:ph idx="20" type="title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7"/>
          <p:cNvSpPr txBox="1"/>
          <p:nvPr>
            <p:ph idx="21" type="body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7"/>
          <p:cNvSpPr txBox="1"/>
          <p:nvPr>
            <p:ph idx="22" type="body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37"/>
          <p:cNvSpPr/>
          <p:nvPr>
            <p:ph idx="2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ntent">
  <p:cSld name="CUSTOM_15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8"/>
          <p:cNvSpPr txBox="1"/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36" name="Google Shape;236;p38"/>
          <p:cNvSpPr txBox="1"/>
          <p:nvPr>
            <p:ph idx="1" type="subTitle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8"/>
          <p:cNvSpPr txBox="1"/>
          <p:nvPr>
            <p:ph idx="2" type="subTitle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3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8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6"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9"/>
          <p:cNvSpPr/>
          <p:nvPr>
            <p:ph idx="2" type="pic"/>
          </p:nvPr>
        </p:nvSpPr>
        <p:spPr>
          <a:xfrm>
            <a:off x="3768625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9"/>
          <p:cNvSpPr/>
          <p:nvPr>
            <p:ph idx="3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9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Desktop">
  <p:cSld name="CUSTOM_16_2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0" name="Google Shape;250;p40"/>
          <p:cNvSpPr/>
          <p:nvPr>
            <p:ph idx="3" type="pic"/>
          </p:nvPr>
        </p:nvSpPr>
        <p:spPr>
          <a:xfrm>
            <a:off x="1931050" y="789375"/>
            <a:ext cx="5281800" cy="29733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">
  <p:cSld name="CUSTOM_16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1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6" name="Google Shape;256;p41"/>
          <p:cNvSpPr/>
          <p:nvPr>
            <p:ph idx="4" type="pic"/>
          </p:nvPr>
        </p:nvSpPr>
        <p:spPr>
          <a:xfrm>
            <a:off x="376500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1"/>
          <p:cNvSpPr/>
          <p:nvPr>
            <p:ph idx="5" type="pic"/>
          </p:nvPr>
        </p:nvSpPr>
        <p:spPr>
          <a:xfrm>
            <a:off x="67171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Tablet">
  <p:cSld name="CUSTOM_16_2_1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2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" name="Google Shape;262;p42"/>
          <p:cNvSpPr/>
          <p:nvPr>
            <p:ph idx="3" type="pic"/>
          </p:nvPr>
        </p:nvSpPr>
        <p:spPr>
          <a:xfrm>
            <a:off x="1988050" y="627575"/>
            <a:ext cx="5167800" cy="38883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6_1_1"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3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7" name="Google Shape;267;p43"/>
          <p:cNvSpPr/>
          <p:nvPr>
            <p:ph idx="4" type="pic"/>
          </p:nvPr>
        </p:nvSpPr>
        <p:spPr>
          <a:xfrm>
            <a:off x="3874125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7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 txBox="1"/>
          <p:nvPr>
            <p:ph idx="1" type="subTitle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4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2" name="Google Shape;272;p44"/>
          <p:cNvSpPr txBox="1"/>
          <p:nvPr>
            <p:ph idx="2" type="subTitle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44"/>
          <p:cNvSpPr txBox="1"/>
          <p:nvPr>
            <p:ph idx="3" type="title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ullquote">
  <p:cSld name="CUSTOM_18">
    <p:bg>
      <p:bgPr>
        <a:solidFill>
          <a:schemeClr val="accent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idx="1" type="subTitle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5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5"/>
          <p:cNvSpPr txBox="1"/>
          <p:nvPr>
            <p:ph idx="2" type="subTitle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b="0" sz="36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8" name="Google Shape;278;p45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2" name="Google Shape;282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3" name="Google Shape;28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6" name="Google Shape;2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0" name="Google Shape;2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9" name="Google Shape;309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14" name="Google Shape;31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8" name="Google Shape;338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9" name="Google Shape;339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0" name="Google Shape;340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6" name="Google Shape;346;p60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7" name="Google Shape;347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8" name="Google Shape;348;p60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60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60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4" name="Google Shape;354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6" name="Google Shape;356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7" name="Google Shape;357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8" name="Google Shape;358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1" name="Google Shape;371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4" name="Google Shape;37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7" name="Google Shape;37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0" name="Google Shape;38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2" name="Google Shape;38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5" name="Google Shape;385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6" name="Google Shape;386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9.png"/><Relationship Id="rId5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67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22/04/2025</a:t>
            </a:r>
            <a:endParaRPr/>
          </a:p>
        </p:txBody>
      </p:sp>
      <p:sp>
        <p:nvSpPr>
          <p:cNvPr id="408" name="Google Shape;408;p67"/>
          <p:cNvSpPr txBox="1"/>
          <p:nvPr>
            <p:ph type="title"/>
          </p:nvPr>
        </p:nvSpPr>
        <p:spPr>
          <a:xfrm>
            <a:off x="3780299" y="889050"/>
            <a:ext cx="52500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From Signals to Insights: Exploring Supermarket Load Patterns</a:t>
            </a:r>
            <a:endParaRPr sz="3100"/>
          </a:p>
        </p:txBody>
      </p:sp>
      <p:sp>
        <p:nvSpPr>
          <p:cNvPr id="409" name="Google Shape;409;p67"/>
          <p:cNvSpPr txBox="1"/>
          <p:nvPr>
            <p:ph idx="1" type="subTitle"/>
          </p:nvPr>
        </p:nvSpPr>
        <p:spPr>
          <a:xfrm>
            <a:off x="3680400" y="2984675"/>
            <a:ext cx="13707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Contributor: 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Baraa Zoabi</a:t>
            </a:r>
            <a:endParaRPr b="1" sz="1300"/>
          </a:p>
        </p:txBody>
      </p:sp>
      <p:pic>
        <p:nvPicPr>
          <p:cNvPr descr="Hexagonal icon." id="410" name="Google Shape;410;p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11" name="Google Shape;411;p67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2" name="Google Shape;412;p67"/>
          <p:cNvSpPr txBox="1"/>
          <p:nvPr>
            <p:ph idx="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3" name="Google Shape;41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0" y="450000"/>
            <a:ext cx="3033950" cy="23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50" y="2798100"/>
            <a:ext cx="3033950" cy="20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8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68"/>
          <p:cNvSpPr txBox="1"/>
          <p:nvPr>
            <p:ph type="title"/>
          </p:nvPr>
        </p:nvSpPr>
        <p:spPr>
          <a:xfrm>
            <a:off x="3496124" y="125550"/>
            <a:ext cx="51351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Data &amp; Sources</a:t>
            </a:r>
            <a:endParaRPr sz="4400"/>
          </a:p>
        </p:txBody>
      </p:sp>
      <p:pic>
        <p:nvPicPr>
          <p:cNvPr descr="Hexagonal icon." id="421" name="Google Shape;421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descr="Hexagonal icon." id="422" name="Google Shape;4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50" y="542066"/>
            <a:ext cx="2738149" cy="315903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8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4" name="Google Shape;424;p68"/>
          <p:cNvSpPr txBox="1"/>
          <p:nvPr>
            <p:ph idx="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5" name="Google Shape;425;p68"/>
          <p:cNvSpPr txBox="1"/>
          <p:nvPr/>
        </p:nvSpPr>
        <p:spPr>
          <a:xfrm>
            <a:off x="3085700" y="1248450"/>
            <a:ext cx="5944800" cy="29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Population data (LAMAS - Israeli Central Bureau of Statistics)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Supermarket polygon data (locations &amp; areas)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Supermarket points Data (locations)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Precise Supermarket Points Data (Adid Scheme)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Supermarket activity logs (BigQuery tables)-8 tables 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9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69"/>
          <p:cNvSpPr txBox="1"/>
          <p:nvPr>
            <p:ph type="title"/>
          </p:nvPr>
        </p:nvSpPr>
        <p:spPr>
          <a:xfrm>
            <a:off x="138775" y="223475"/>
            <a:ext cx="75627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Geographic and Demographic Overview</a:t>
            </a:r>
            <a:endParaRPr sz="3100"/>
          </a:p>
        </p:txBody>
      </p:sp>
      <p:pic>
        <p:nvPicPr>
          <p:cNvPr descr="Hexagonal icon." id="432" name="Google Shape;432;p69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33" name="Google Shape;433;p69"/>
          <p:cNvSpPr txBox="1"/>
          <p:nvPr/>
        </p:nvSpPr>
        <p:spPr>
          <a:xfrm>
            <a:off x="347550" y="1178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4650" y="986213"/>
            <a:ext cx="3843500" cy="341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9"/>
          <p:cNvSpPr txBox="1"/>
          <p:nvPr/>
        </p:nvSpPr>
        <p:spPr>
          <a:xfrm>
            <a:off x="281850" y="1578925"/>
            <a:ext cx="4178700" cy="3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Haifa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and </a:t>
            </a: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Rishon LeZion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have the largest population sizes among the selected cities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Herzliya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and </a:t>
            </a: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Ra'anana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represent medium-sized cities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Nesher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, with over 25K residents, is a small city but significantly larger than Galil Yam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Galil Yam 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stands out with an extremely low population of only 574 people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6" name="Google Shape;436;p69"/>
          <p:cNvSpPr txBox="1"/>
          <p:nvPr/>
        </p:nvSpPr>
        <p:spPr>
          <a:xfrm>
            <a:off x="281850" y="872475"/>
            <a:ext cx="807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Population</a:t>
            </a:r>
            <a:endParaRPr b="1" sz="2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0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70"/>
          <p:cNvSpPr txBox="1"/>
          <p:nvPr>
            <p:ph type="title"/>
          </p:nvPr>
        </p:nvSpPr>
        <p:spPr>
          <a:xfrm>
            <a:off x="138775" y="223475"/>
            <a:ext cx="7562700" cy="2654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Geographic and Demographic Overview</a:t>
            </a:r>
            <a:endParaRPr sz="3100"/>
          </a:p>
        </p:txBody>
      </p:sp>
      <p:pic>
        <p:nvPicPr>
          <p:cNvPr descr="Hexagonal icon." id="443" name="Google Shape;443;p70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44" name="Google Shape;444;p70"/>
          <p:cNvSpPr txBox="1"/>
          <p:nvPr/>
        </p:nvSpPr>
        <p:spPr>
          <a:xfrm>
            <a:off x="347550" y="1178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4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863" y="1578925"/>
            <a:ext cx="4220675" cy="321960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70"/>
          <p:cNvSpPr txBox="1"/>
          <p:nvPr/>
        </p:nvSpPr>
        <p:spPr>
          <a:xfrm>
            <a:off x="347550" y="743300"/>
            <a:ext cx="474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Distribution of Supermarkets by City</a:t>
            </a:r>
            <a:br>
              <a:rPr b="1" lang="en" sz="1900">
                <a:solidFill>
                  <a:schemeClr val="lt1"/>
                </a:solidFill>
              </a:rPr>
            </a:br>
            <a:endParaRPr b="1" sz="1900">
              <a:solidFill>
                <a:schemeClr val="lt1"/>
              </a:solidFill>
            </a:endParaRPr>
          </a:p>
        </p:txBody>
      </p:sp>
      <p:sp>
        <p:nvSpPr>
          <p:cNvPr id="447" name="Google Shape;447;p70"/>
          <p:cNvSpPr txBox="1"/>
          <p:nvPr/>
        </p:nvSpPr>
        <p:spPr>
          <a:xfrm>
            <a:off x="5134325" y="1251125"/>
            <a:ext cx="3562200" cy="3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48" name="Google Shape;44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2775" y="1578925"/>
            <a:ext cx="3970850" cy="32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70"/>
          <p:cNvSpPr txBox="1"/>
          <p:nvPr/>
        </p:nvSpPr>
        <p:spPr>
          <a:xfrm>
            <a:off x="7686800" y="542075"/>
            <a:ext cx="54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🤔</a:t>
            </a:r>
            <a:endParaRPr sz="3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1"/>
          <p:cNvSpPr txBox="1"/>
          <p:nvPr>
            <p:ph idx="1" type="body"/>
          </p:nvPr>
        </p:nvSpPr>
        <p:spPr>
          <a:xfrm>
            <a:off x="5059350" y="1077225"/>
            <a:ext cx="40158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⬤</a:t>
            </a:r>
            <a:r>
              <a:rPr b="1" lang="en" u="none"/>
              <a:t>This chart shows the average number of residents served by one supermarket in each city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⬤</a:t>
            </a:r>
            <a:r>
              <a:rPr b="1" lang="en" u="none"/>
              <a:t>Haifa has the highest population-to-supermarket ratio (9,202), suggesting potential service overload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none">
                <a:solidFill>
                  <a:schemeClr val="accent1"/>
                </a:solidFill>
              </a:rPr>
              <a:t>⬤</a:t>
            </a:r>
            <a:r>
              <a:rPr lang="en" u="none"/>
              <a:t> </a:t>
            </a:r>
            <a:r>
              <a:rPr b="1" lang="en" u="none"/>
              <a:t>Nesher and Herzliya demonstrate relatively lower ratios, indicating better supermarket coverage</a:t>
            </a:r>
            <a:endParaRPr b="1"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u="none"/>
          </a:p>
        </p:txBody>
      </p:sp>
      <p:pic>
        <p:nvPicPr>
          <p:cNvPr descr="Hexagonal icon." id="455" name="Google Shape;455;p71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6598" l="0" r="0" t="6589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id="456" name="Google Shape;45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50" y="465750"/>
            <a:ext cx="4549200" cy="41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71"/>
          <p:cNvSpPr txBox="1"/>
          <p:nvPr/>
        </p:nvSpPr>
        <p:spPr>
          <a:xfrm>
            <a:off x="4769525" y="465750"/>
            <a:ext cx="3437700" cy="38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Population Load per Supermarket by City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2"/>
          <p:cNvSpPr txBox="1"/>
          <p:nvPr>
            <p:ph type="title"/>
          </p:nvPr>
        </p:nvSpPr>
        <p:spPr>
          <a:xfrm>
            <a:off x="85500" y="100925"/>
            <a:ext cx="6123900" cy="563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City Population vs. Average Supermarket Area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200"/>
          </a:p>
        </p:txBody>
      </p:sp>
      <p:pic>
        <p:nvPicPr>
          <p:cNvPr descr="Hexagonal icon." id="463" name="Google Shape;463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598" l="0" r="0" t="6589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id="464" name="Google Shape;46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17025"/>
            <a:ext cx="5402675" cy="3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2"/>
          <p:cNvSpPr txBox="1"/>
          <p:nvPr/>
        </p:nvSpPr>
        <p:spPr>
          <a:xfrm>
            <a:off x="5779475" y="830400"/>
            <a:ext cx="30225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</a:pPr>
            <a:r>
              <a:rPr b="1" lang="en">
                <a:latin typeface="Albert Sans"/>
                <a:ea typeface="Albert Sans"/>
                <a:cs typeface="Albert Sans"/>
                <a:sym typeface="Albert Sans"/>
              </a:rPr>
              <a:t>Most cities cluster in the lower population and lower area range, showing compact commercial planning.</a:t>
            </a:r>
            <a:br>
              <a:rPr b="1" lang="en"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</a:pPr>
            <a:r>
              <a:rPr b="1" lang="en">
                <a:latin typeface="Albert Sans"/>
                <a:ea typeface="Albert Sans"/>
                <a:cs typeface="Albert Sans"/>
                <a:sym typeface="Albert Sans"/>
              </a:rPr>
              <a:t>No clear linear trend is observed-larger cities do not necessarily have larger supermarkets.</a:t>
            </a:r>
            <a:br>
              <a:rPr b="1" lang="en"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</a:pPr>
            <a:r>
              <a:rPr b="1" lang="en">
                <a:latin typeface="Albert Sans"/>
                <a:ea typeface="Albert Sans"/>
                <a:cs typeface="Albert Sans"/>
                <a:sym typeface="Albert Sans"/>
              </a:rPr>
              <a:t>Outliers may indicate cities with fewer but larger stores, or cities with unique urban structures.</a:t>
            </a:r>
            <a:b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3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73"/>
          <p:cNvSpPr txBox="1"/>
          <p:nvPr>
            <p:ph type="title"/>
          </p:nvPr>
        </p:nvSpPr>
        <p:spPr>
          <a:xfrm>
            <a:off x="347555" y="223500"/>
            <a:ext cx="7860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Employee Device Patterns in the Store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exagonal icon." id="472" name="Google Shape;472;p73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6598" l="0" r="0" t="6589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id="473" name="Google Shape;47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425" y="916817"/>
            <a:ext cx="7848600" cy="68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2000"/>
              </a:srgbClr>
            </a:outerShdw>
          </a:effectLst>
        </p:spPr>
      </p:pic>
      <p:sp>
        <p:nvSpPr>
          <p:cNvPr id="474" name="Google Shape;474;p73"/>
          <p:cNvSpPr txBox="1"/>
          <p:nvPr/>
        </p:nvSpPr>
        <p:spPr>
          <a:xfrm>
            <a:off x="674525" y="1727975"/>
            <a:ext cx="7860000" cy="30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</a:rPr>
              <a:t>High total signals</a:t>
            </a:r>
            <a:r>
              <a:rPr lang="en" sz="1300">
                <a:solidFill>
                  <a:schemeClr val="dk2"/>
                </a:solidFill>
              </a:rPr>
              <a:t> indicate consistent presence throughout the period.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</a:rPr>
              <a:t>Low average inaccuracy</a:t>
            </a:r>
            <a:r>
              <a:rPr lang="en" sz="1300">
                <a:solidFill>
                  <a:schemeClr val="dk2"/>
                </a:solidFill>
              </a:rPr>
              <a:t> ensures the device was truly within store premises.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</a:rPr>
              <a:t>Appeared on 10+ different days</a:t>
            </a:r>
            <a:r>
              <a:rPr lang="en" sz="1300">
                <a:solidFill>
                  <a:schemeClr val="dk2"/>
                </a:solidFill>
              </a:rPr>
              <a:t>, reflecting a regular and repeated pattern.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</a:rPr>
              <a:t>10+ average signals per day</a:t>
            </a:r>
            <a:r>
              <a:rPr lang="en" sz="1300">
                <a:solidFill>
                  <a:schemeClr val="dk2"/>
                </a:solidFill>
              </a:rPr>
              <a:t>, showing operational rather than casual usage.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</a:rPr>
              <a:t>Activity hours between 6:00-22:00</a:t>
            </a:r>
            <a:r>
              <a:rPr lang="en" sz="1300">
                <a:solidFill>
                  <a:schemeClr val="dk2"/>
                </a:solidFill>
              </a:rPr>
              <a:t>, aligning with store working hours.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</a:rPr>
              <a:t>Daily presence of above 4 hours</a:t>
            </a:r>
            <a:r>
              <a:rPr lang="en" sz="1300">
                <a:solidFill>
                  <a:schemeClr val="dk2"/>
                </a:solidFill>
              </a:rPr>
              <a:t> suggests full work shifts (vs. short customer visits).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</a:rPr>
              <a:t>Detected in only one store and one city</a:t>
            </a:r>
            <a:r>
              <a:rPr lang="en" sz="1300">
                <a:solidFill>
                  <a:schemeClr val="dk2"/>
                </a:solidFill>
              </a:rPr>
              <a:t>, confirming it's not a supplier/visitor.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xagonal icon." id="479" name="Google Shape;479;p74"/>
          <p:cNvPicPr preferRelativeResize="0"/>
          <p:nvPr>
            <p:ph idx="16" type="pic"/>
          </p:nvPr>
        </p:nvPicPr>
        <p:blipFill rotWithShape="1">
          <a:blip r:embed="rId3">
            <a:alphaModFix/>
          </a:blip>
          <a:srcRect b="6598" l="0" r="0" t="6589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80" name="Google Shape;480;p74"/>
          <p:cNvSpPr txBox="1"/>
          <p:nvPr/>
        </p:nvSpPr>
        <p:spPr>
          <a:xfrm>
            <a:off x="408075" y="199300"/>
            <a:ext cx="7461000" cy="57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Weekly Activity Patterns Across Hours – Supermarket Foot Traffic Trends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Shufersal-Nesher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81" name="Google Shape;481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599" y="1096975"/>
            <a:ext cx="5446600" cy="3702375"/>
          </a:xfrm>
          <a:prstGeom prst="rect">
            <a:avLst/>
          </a:prstGeom>
          <a:noFill/>
          <a:ln>
            <a:noFill/>
          </a:ln>
          <a:effectLst>
            <a:outerShdw blurRad="5143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82" name="Google Shape;48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6500" y="1096975"/>
            <a:ext cx="3075325" cy="37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xagonal icon." id="487" name="Google Shape;487;p75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6598" l="0" r="0" t="6589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id="488" name="Google Shape;48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550" y="1196650"/>
            <a:ext cx="3696675" cy="27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89" name="Google Shape;48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550" y="3946850"/>
            <a:ext cx="3696675" cy="100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0" name="Google Shape;49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8725" y="3946850"/>
            <a:ext cx="3696675" cy="100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1" name="Google Shape;491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9250" y="1125625"/>
            <a:ext cx="3696675" cy="281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92" name="Google Shape;492;p75"/>
          <p:cNvSpPr txBox="1"/>
          <p:nvPr/>
        </p:nvSpPr>
        <p:spPr>
          <a:xfrm>
            <a:off x="408075" y="227350"/>
            <a:ext cx="8022000" cy="79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Regression - Amount of Unique Devices (Visitors) OverTime</a:t>
            </a:r>
            <a:endParaRPr b="1" sz="2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xagonal icon." id="497" name="Google Shape;497;p76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6598" l="0" r="0" t="6589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98" name="Google Shape;498;p76"/>
          <p:cNvSpPr txBox="1"/>
          <p:nvPr/>
        </p:nvSpPr>
        <p:spPr>
          <a:xfrm>
            <a:off x="309900" y="283450"/>
            <a:ext cx="8078100" cy="7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Regression 2- Amount of Unique Devices(visitors) per Area Overtime</a:t>
            </a:r>
            <a:endParaRPr b="1" sz="18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99" name="Google Shape;49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3837000"/>
            <a:ext cx="3691525" cy="1099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00" name="Google Shape;50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903200"/>
            <a:ext cx="3691525" cy="293379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01" name="Google Shape;501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3875" y="3837000"/>
            <a:ext cx="3691525" cy="1099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02" name="Google Shape;50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1425" y="874975"/>
            <a:ext cx="3691524" cy="299025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7"/>
          <p:cNvSpPr txBox="1"/>
          <p:nvPr>
            <p:ph type="title"/>
          </p:nvPr>
        </p:nvSpPr>
        <p:spPr>
          <a:xfrm>
            <a:off x="3205625" y="111325"/>
            <a:ext cx="44469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Business Recommendations Based on Regression Analysis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7600"/>
          </a:p>
        </p:txBody>
      </p:sp>
      <p:pic>
        <p:nvPicPr>
          <p:cNvPr descr="Abstract looped, twisted shape." id="508" name="Google Shape;508;p77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7395" r="7404" t="0"/>
          <a:stretch/>
        </p:blipFill>
        <p:spPr>
          <a:xfrm>
            <a:off x="228600" y="223475"/>
            <a:ext cx="2857200" cy="23481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pic>
        <p:nvPicPr>
          <p:cNvPr descr="Hexagonal icon." id="509" name="Google Shape;509;p77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descr="Person using a tablet computer." id="510" name="Google Shape;510;p77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0" l="9449" r="9449" t="0"/>
          <a:stretch/>
        </p:blipFill>
        <p:spPr>
          <a:xfrm>
            <a:off x="228600" y="2564446"/>
            <a:ext cx="2857200" cy="2348100"/>
          </a:xfrm>
          <a:prstGeom prst="round2SameRect">
            <a:avLst>
              <a:gd fmla="val 0" name="adj1"/>
              <a:gd fmla="val 6437" name="adj2"/>
            </a:avLst>
          </a:prstGeom>
        </p:spPr>
      </p:pic>
      <p:sp>
        <p:nvSpPr>
          <p:cNvPr id="511" name="Google Shape;511;p77"/>
          <p:cNvSpPr txBox="1"/>
          <p:nvPr/>
        </p:nvSpPr>
        <p:spPr>
          <a:xfrm>
            <a:off x="3166950" y="1090525"/>
            <a:ext cx="5553600" cy="3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●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Identify trends over time to detect significant increases or decreases in visitor activity.</a:t>
            </a:r>
            <a:b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●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Use regression insights to guide resource allocation, staff planning, or marketing campaigns.</a:t>
            </a:r>
            <a:b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●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Investigate external factors that might explain visit fluctuations, such as seasonality or local events.</a:t>
            </a:r>
            <a:b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●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Consider additional variables to improve predictive power and better understand visitor behavior.</a:t>
            </a:r>
            <a:b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●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Apply findings across branches to optimize operations and enhance customer experience.</a:t>
            </a:r>
            <a:b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8"/>
          <p:cNvSpPr txBox="1"/>
          <p:nvPr>
            <p:ph type="title"/>
          </p:nvPr>
        </p:nvSpPr>
        <p:spPr>
          <a:xfrm>
            <a:off x="3718499" y="1638750"/>
            <a:ext cx="519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Thank You</a:t>
            </a:r>
            <a:endParaRPr sz="5600"/>
          </a:p>
        </p:txBody>
      </p:sp>
      <p:pic>
        <p:nvPicPr>
          <p:cNvPr descr="Hexagonal icon." id="517" name="Google Shape;517;p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descr="Hexagonal icon." id="518" name="Google Shape;51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50" y="542066"/>
            <a:ext cx="2738149" cy="315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